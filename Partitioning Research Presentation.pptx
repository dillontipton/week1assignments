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Raleway"/>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F6B60C-34D5-4CE5-BE02-F6942FEE3D42}">
  <a:tblStyle styleId="{30F6B60C-34D5-4CE5-BE02-F6942FEE3D4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font" Target="fonts/Lato-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slideMaster" Target="slideMasters/slideMaster1.xml"/><Relationship Id="rId19" Type="http://schemas.openxmlformats.org/officeDocument/2006/relationships/font" Target="fonts/Lato-bold.fntdata"/><Relationship Id="rId6" Type="http://schemas.openxmlformats.org/officeDocument/2006/relationships/notesMaster" Target="notesMasters/notesMaster1.xml"/><Relationship Id="rId18" Type="http://schemas.openxmlformats.org/officeDocument/2006/relationships/font" Target="fonts/Lato-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03c4c91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03c4c91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03c4c911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03c4c911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03c4c911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03c4c911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03c4c911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03c4c911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03c4c911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f03c4c911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03c4c911f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f03c4c911f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03c4c911f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f03c4c911f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repartition()</a:t>
            </a:r>
            <a:endParaRPr/>
          </a:p>
        </p:txBody>
      </p:sp>
      <p:sp>
        <p:nvSpPr>
          <p:cNvPr id="87" name="Google Shape;87;p13"/>
          <p:cNvSpPr txBox="1"/>
          <p:nvPr>
            <p:ph idx="1" type="body"/>
          </p:nvPr>
        </p:nvSpPr>
        <p:spPr>
          <a:xfrm>
            <a:off x="729450" y="2078875"/>
            <a:ext cx="5222700" cy="2687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A wide transformation used to change the number of RDD partitions after instantiation. It shuffles data as evenly as possible across the cluster, </a:t>
            </a:r>
            <a:r>
              <a:rPr lang="en"/>
              <a:t>optimizing performance and </a:t>
            </a:r>
            <a:r>
              <a:rPr lang="en"/>
              <a:t>allowing for both upscaling and downscaling.</a:t>
            </a:r>
            <a:endParaRPr/>
          </a:p>
          <a:p>
            <a:pPr indent="0" lvl="0" marL="0" rtl="0" algn="l">
              <a:spcBef>
                <a:spcPts val="1200"/>
              </a:spcBef>
              <a:spcAft>
                <a:spcPts val="0"/>
              </a:spcAft>
              <a:buNone/>
            </a:pPr>
            <a:r>
              <a:rPr lang="en"/>
              <a:t>Spark can only run a single task per partition, so adding more partitions improves parallel execution.</a:t>
            </a:r>
            <a:endParaRPr/>
          </a:p>
          <a:p>
            <a:pPr indent="0" lvl="0" marL="0" rtl="0" algn="l">
              <a:spcBef>
                <a:spcPts val="1200"/>
              </a:spcBef>
              <a:spcAft>
                <a:spcPts val="0"/>
              </a:spcAft>
              <a:buNone/>
            </a:pPr>
            <a:r>
              <a:rPr lang="en"/>
              <a:t>There are 3 ways to use repartition():</a:t>
            </a:r>
            <a:endParaRPr/>
          </a:p>
          <a:p>
            <a:pPr indent="-304959" lvl="0" marL="457200" rtl="0" algn="l">
              <a:spcBef>
                <a:spcPts val="1200"/>
              </a:spcBef>
              <a:spcAft>
                <a:spcPts val="0"/>
              </a:spcAft>
              <a:buSzPct val="100000"/>
              <a:buChar char="●"/>
            </a:pPr>
            <a:r>
              <a:rPr lang="en"/>
              <a:t>By number - give a fixed number of partitions</a:t>
            </a:r>
            <a:endParaRPr/>
          </a:p>
          <a:p>
            <a:pPr indent="-293211" lvl="1" marL="914400" rtl="0" algn="l">
              <a:spcBef>
                <a:spcPts val="0"/>
              </a:spcBef>
              <a:spcAft>
                <a:spcPts val="0"/>
              </a:spcAft>
              <a:buSzPct val="100000"/>
              <a:buChar char="○"/>
            </a:pPr>
            <a:r>
              <a:rPr lang="en"/>
              <a:t>rdd.repartition(10)</a:t>
            </a:r>
            <a:endParaRPr/>
          </a:p>
          <a:p>
            <a:pPr indent="-304959" lvl="0" marL="457200" rtl="0" algn="l">
              <a:spcBef>
                <a:spcPts val="0"/>
              </a:spcBef>
              <a:spcAft>
                <a:spcPts val="0"/>
              </a:spcAft>
              <a:buSzPct val="100000"/>
              <a:buChar char="●"/>
            </a:pPr>
            <a:r>
              <a:rPr lang="en"/>
              <a:t>By column - hash-partition based on column values</a:t>
            </a:r>
            <a:endParaRPr/>
          </a:p>
          <a:p>
            <a:pPr indent="-293211" lvl="1" marL="914400" rtl="0" algn="l">
              <a:spcBef>
                <a:spcPts val="0"/>
              </a:spcBef>
              <a:spcAft>
                <a:spcPts val="0"/>
              </a:spcAft>
              <a:buSzPct val="100000"/>
              <a:buChar char="○"/>
            </a:pPr>
            <a:r>
              <a:rPr lang="en"/>
              <a:t>rdd.repartition(“country”)</a:t>
            </a:r>
            <a:endParaRPr/>
          </a:p>
          <a:p>
            <a:pPr indent="-304959" lvl="0" marL="457200" rtl="0" algn="l">
              <a:spcBef>
                <a:spcPts val="0"/>
              </a:spcBef>
              <a:spcAft>
                <a:spcPts val="0"/>
              </a:spcAft>
              <a:buSzPct val="100000"/>
              <a:buChar char="●"/>
            </a:pPr>
            <a:r>
              <a:rPr lang="en"/>
              <a:t>By both number and column</a:t>
            </a:r>
            <a:endParaRPr/>
          </a:p>
          <a:p>
            <a:pPr indent="-293211" lvl="1" marL="914400" rtl="0" algn="l">
              <a:spcBef>
                <a:spcPts val="0"/>
              </a:spcBef>
              <a:spcAft>
                <a:spcPts val="0"/>
              </a:spcAft>
              <a:buSzPct val="100000"/>
              <a:buChar char="○"/>
            </a:pPr>
            <a:r>
              <a:rPr lang="en"/>
              <a:t>rdd.repartition(10, “country”)</a:t>
            </a:r>
            <a:endParaRPr/>
          </a:p>
        </p:txBody>
      </p:sp>
      <p:pic>
        <p:nvPicPr>
          <p:cNvPr id="88" name="Google Shape;88;p13"/>
          <p:cNvPicPr preferRelativeResize="0"/>
          <p:nvPr/>
        </p:nvPicPr>
        <p:blipFill>
          <a:blip r:embed="rId3">
            <a:alphaModFix/>
          </a:blip>
          <a:stretch>
            <a:fillRect/>
          </a:stretch>
        </p:blipFill>
        <p:spPr>
          <a:xfrm>
            <a:off x="5952075" y="2627775"/>
            <a:ext cx="3191925" cy="2515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coalesce()</a:t>
            </a:r>
            <a:endParaRPr/>
          </a:p>
        </p:txBody>
      </p:sp>
      <p:sp>
        <p:nvSpPr>
          <p:cNvPr id="94" name="Google Shape;94;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narrow transformation used to reduce the number of partitions in a dataset. Instead of shuffling all remaining partitions, coalesce() merges adjacent partitions on the same executor.</a:t>
            </a:r>
            <a:endParaRPr/>
          </a:p>
          <a:p>
            <a:pPr indent="0" lvl="0" marL="0" rtl="0" algn="l">
              <a:spcBef>
                <a:spcPts val="1200"/>
              </a:spcBef>
              <a:spcAft>
                <a:spcPts val="1200"/>
              </a:spcAft>
              <a:buNone/>
            </a:pPr>
            <a:r>
              <a:rPr lang="en"/>
              <a:t>	rddReduced = rdd.coalesce(5)</a:t>
            </a:r>
            <a:endParaRPr/>
          </a:p>
        </p:txBody>
      </p:sp>
      <p:pic>
        <p:nvPicPr>
          <p:cNvPr id="95" name="Google Shape;95;p14"/>
          <p:cNvPicPr preferRelativeResize="0"/>
          <p:nvPr/>
        </p:nvPicPr>
        <p:blipFill>
          <a:blip r:embed="rId3">
            <a:alphaModFix/>
          </a:blip>
          <a:stretch>
            <a:fillRect/>
          </a:stretch>
        </p:blipFill>
        <p:spPr>
          <a:xfrm>
            <a:off x="2613162" y="3044150"/>
            <a:ext cx="3917675" cy="2099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repartition() vs. coalesce()</a:t>
            </a:r>
            <a:endParaRPr/>
          </a:p>
        </p:txBody>
      </p:sp>
      <p:sp>
        <p:nvSpPr>
          <p:cNvPr id="101" name="Google Shape;101;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While repartition has to shuffle the entire dataset to redistribute it evenly, coalesce simply appends the displaced data to the nearest executor, saving time and system resources. However, this also means that the distribution of data across the partitions is uneven, resulting in some partitions having a higher workload than others.</a:t>
            </a:r>
            <a:endParaRPr/>
          </a:p>
          <a:p>
            <a:pPr indent="0" lvl="0" marL="0" rtl="0" algn="l">
              <a:spcBef>
                <a:spcPts val="1200"/>
              </a:spcBef>
              <a:spcAft>
                <a:spcPts val="1200"/>
              </a:spcAft>
              <a:buNone/>
            </a:pPr>
            <a:r>
              <a:rPr lang="en"/>
              <a:t>Repartition is generally preferred for workload balancing or if you need to organize data based on specific columns, while coalesce is preferred for cleanup before writes or after filtering.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graphicFrame>
        <p:nvGraphicFramePr>
          <p:cNvPr id="106" name="Google Shape;106;p16"/>
          <p:cNvGraphicFramePr/>
          <p:nvPr/>
        </p:nvGraphicFramePr>
        <p:xfrm>
          <a:off x="936100" y="1383625"/>
          <a:ext cx="3000000" cy="3000000"/>
        </p:xfrm>
        <a:graphic>
          <a:graphicData uri="http://schemas.openxmlformats.org/drawingml/2006/table">
            <a:tbl>
              <a:tblPr>
                <a:noFill/>
                <a:tableStyleId>{30F6B60C-34D5-4CE5-BE02-F6942FEE3D42}</a:tableStyleId>
              </a:tblPr>
              <a:tblGrid>
                <a:gridCol w="2110275"/>
                <a:gridCol w="2110275"/>
              </a:tblGrid>
              <a:tr h="345950">
                <a:tc>
                  <a:txBody>
                    <a:bodyPr/>
                    <a:lstStyle/>
                    <a:p>
                      <a:pPr indent="0" lvl="0" marL="0" rtl="0" algn="ctr">
                        <a:spcBef>
                          <a:spcPts val="0"/>
                        </a:spcBef>
                        <a:spcAft>
                          <a:spcPts val="0"/>
                        </a:spcAft>
                        <a:buNone/>
                      </a:pPr>
                      <a:r>
                        <a:rPr b="1" lang="en" sz="1600"/>
                        <a:t>repartition()</a:t>
                      </a:r>
                      <a:endParaRPr b="1" sz="1600"/>
                    </a:p>
                  </a:txBody>
                  <a:tcPr marT="91425" marB="91425" marR="91425" marL="91425"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600"/>
                        <a:t>coalesce()</a:t>
                      </a:r>
                      <a:endParaRPr b="1" sz="1600"/>
                    </a:p>
                  </a:txBody>
                  <a:tcPr marT="91425" marB="91425" marR="91425" marL="91425"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543475">
                <a:tc>
                  <a:txBody>
                    <a:bodyPr/>
                    <a:lstStyle/>
                    <a:p>
                      <a:pPr indent="0" lvl="0" marL="0" rtl="0" algn="ctr">
                        <a:spcBef>
                          <a:spcPts val="0"/>
                        </a:spcBef>
                        <a:spcAft>
                          <a:spcPts val="0"/>
                        </a:spcAft>
                        <a:buNone/>
                      </a:pPr>
                      <a:r>
                        <a:rPr lang="en" sz="1600"/>
                        <a:t>Increase or decrease partition count</a:t>
                      </a:r>
                      <a:endParaRPr sz="1600"/>
                    </a:p>
                  </a:txBody>
                  <a:tcPr marT="91425" marB="91425" marR="91425" marL="91425" anchor="ctr">
                    <a:lnT cap="flat" cmpd="sng" w="38100">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 sz="1600"/>
                        <a:t>Only decrease partition count</a:t>
                      </a:r>
                      <a:endParaRPr sz="1600"/>
                    </a:p>
                  </a:txBody>
                  <a:tcPr marT="91425" marB="91425" marR="91425" marL="91425" anchor="ctr">
                    <a:lnT cap="flat" cmpd="sng" w="38100">
                      <a:solidFill>
                        <a:srgbClr val="9E9E9E"/>
                      </a:solidFill>
                      <a:prstDash val="solid"/>
                      <a:round/>
                      <a:headEnd len="sm" w="sm" type="none"/>
                      <a:tailEnd len="sm" w="sm" type="none"/>
                    </a:lnT>
                  </a:tcPr>
                </a:tc>
              </a:tr>
              <a:tr h="345950">
                <a:tc>
                  <a:txBody>
                    <a:bodyPr/>
                    <a:lstStyle/>
                    <a:p>
                      <a:pPr indent="0" lvl="0" marL="0" rtl="0" algn="ctr">
                        <a:spcBef>
                          <a:spcPts val="0"/>
                        </a:spcBef>
                        <a:spcAft>
                          <a:spcPts val="0"/>
                        </a:spcAft>
                        <a:buNone/>
                      </a:pPr>
                      <a:r>
                        <a:rPr lang="en" sz="1600"/>
                        <a:t>Wide transformation</a:t>
                      </a:r>
                      <a:endParaRPr sz="1600"/>
                    </a:p>
                  </a:txBody>
                  <a:tcPr marT="91425" marB="91425" marR="91425" marL="91425" anchor="ctr"/>
                </a:tc>
                <a:tc>
                  <a:txBody>
                    <a:bodyPr/>
                    <a:lstStyle/>
                    <a:p>
                      <a:pPr indent="0" lvl="0" marL="0" rtl="0" algn="ctr">
                        <a:spcBef>
                          <a:spcPts val="0"/>
                        </a:spcBef>
                        <a:spcAft>
                          <a:spcPts val="0"/>
                        </a:spcAft>
                        <a:buNone/>
                      </a:pPr>
                      <a:r>
                        <a:rPr lang="en" sz="1600"/>
                        <a:t>Narrow transformation</a:t>
                      </a:r>
                      <a:endParaRPr sz="1600"/>
                    </a:p>
                  </a:txBody>
                  <a:tcPr marT="91425" marB="91425" marR="91425" marL="91425" anchor="ctr"/>
                </a:tc>
              </a:tr>
              <a:tr h="345950">
                <a:tc>
                  <a:txBody>
                    <a:bodyPr/>
                    <a:lstStyle/>
                    <a:p>
                      <a:pPr indent="0" lvl="0" marL="0" rtl="0" algn="ctr">
                        <a:spcBef>
                          <a:spcPts val="0"/>
                        </a:spcBef>
                        <a:spcAft>
                          <a:spcPts val="0"/>
                        </a:spcAft>
                        <a:buNone/>
                      </a:pPr>
                      <a:r>
                        <a:rPr lang="en" sz="1600"/>
                        <a:t>Shuffle</a:t>
                      </a:r>
                      <a:endParaRPr sz="1600"/>
                    </a:p>
                  </a:txBody>
                  <a:tcPr marT="91425" marB="91425" marR="91425" marL="91425" anchor="ctr"/>
                </a:tc>
                <a:tc>
                  <a:txBody>
                    <a:bodyPr/>
                    <a:lstStyle/>
                    <a:p>
                      <a:pPr indent="0" lvl="0" marL="0" rtl="0" algn="ctr">
                        <a:spcBef>
                          <a:spcPts val="0"/>
                        </a:spcBef>
                        <a:spcAft>
                          <a:spcPts val="0"/>
                        </a:spcAft>
                        <a:buNone/>
                      </a:pPr>
                      <a:r>
                        <a:rPr lang="en" sz="1600"/>
                        <a:t>No shuffle</a:t>
                      </a:r>
                      <a:endParaRPr sz="1600"/>
                    </a:p>
                  </a:txBody>
                  <a:tcPr marT="91425" marB="91425" marR="91425" marL="91425" anchor="ctr"/>
                </a:tc>
              </a:tr>
              <a:tr h="543475">
                <a:tc>
                  <a:txBody>
                    <a:bodyPr/>
                    <a:lstStyle/>
                    <a:p>
                      <a:pPr indent="0" lvl="0" marL="0" rtl="0" algn="ctr">
                        <a:spcBef>
                          <a:spcPts val="0"/>
                        </a:spcBef>
                        <a:spcAft>
                          <a:spcPts val="0"/>
                        </a:spcAft>
                        <a:buNone/>
                      </a:pPr>
                      <a:r>
                        <a:rPr lang="en" sz="1600"/>
                        <a:t>Expensive (disk/network I/O)</a:t>
                      </a:r>
                      <a:endParaRPr sz="1600"/>
                    </a:p>
                  </a:txBody>
                  <a:tcPr marT="91425" marB="91425" marR="91425" marL="91425" anchor="ctr"/>
                </a:tc>
                <a:tc>
                  <a:txBody>
                    <a:bodyPr/>
                    <a:lstStyle/>
                    <a:p>
                      <a:pPr indent="0" lvl="0" marL="0" rtl="0" algn="ctr">
                        <a:spcBef>
                          <a:spcPts val="0"/>
                        </a:spcBef>
                        <a:spcAft>
                          <a:spcPts val="0"/>
                        </a:spcAft>
                        <a:buNone/>
                      </a:pPr>
                      <a:r>
                        <a:rPr lang="en" sz="1600"/>
                        <a:t>Fast and Efficient</a:t>
                      </a:r>
                      <a:endParaRPr sz="1600"/>
                    </a:p>
                  </a:txBody>
                  <a:tcPr marT="91425" marB="91425" marR="91425" marL="91425" anchor="ctr"/>
                </a:tc>
              </a:tr>
              <a:tr h="345950">
                <a:tc>
                  <a:txBody>
                    <a:bodyPr/>
                    <a:lstStyle/>
                    <a:p>
                      <a:pPr indent="0" lvl="0" marL="0" rtl="0" algn="ctr">
                        <a:spcBef>
                          <a:spcPts val="0"/>
                        </a:spcBef>
                        <a:spcAft>
                          <a:spcPts val="0"/>
                        </a:spcAft>
                        <a:buNone/>
                      </a:pPr>
                      <a:r>
                        <a:rPr lang="en" sz="1600"/>
                        <a:t>Uniform distribution</a:t>
                      </a:r>
                      <a:endParaRPr sz="1600"/>
                    </a:p>
                  </a:txBody>
                  <a:tcPr marT="91425" marB="91425" marR="91425" marL="91425" anchor="ctr"/>
                </a:tc>
                <a:tc>
                  <a:txBody>
                    <a:bodyPr/>
                    <a:lstStyle/>
                    <a:p>
                      <a:pPr indent="0" lvl="0" marL="0" rtl="0" algn="ctr">
                        <a:spcBef>
                          <a:spcPts val="0"/>
                        </a:spcBef>
                        <a:spcAft>
                          <a:spcPts val="0"/>
                        </a:spcAft>
                        <a:buNone/>
                      </a:pPr>
                      <a:r>
                        <a:rPr lang="en" sz="1600"/>
                        <a:t>Uneven distribution</a:t>
                      </a:r>
                      <a:endParaRPr sz="1600"/>
                    </a:p>
                  </a:txBody>
                  <a:tcPr marT="91425" marB="91425" marR="91425" marL="91425" anchor="ctr"/>
                </a:tc>
              </a:tr>
            </a:tbl>
          </a:graphicData>
        </a:graphic>
      </p:graphicFrame>
      <p:pic>
        <p:nvPicPr>
          <p:cNvPr id="107" name="Google Shape;107;p16"/>
          <p:cNvPicPr preferRelativeResize="0"/>
          <p:nvPr/>
        </p:nvPicPr>
        <p:blipFill>
          <a:blip r:embed="rId3">
            <a:alphaModFix/>
          </a:blip>
          <a:stretch>
            <a:fillRect/>
          </a:stretch>
        </p:blipFill>
        <p:spPr>
          <a:xfrm>
            <a:off x="5374550" y="1810301"/>
            <a:ext cx="3322676" cy="2213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idx="1" type="body"/>
          </p:nvPr>
        </p:nvSpPr>
        <p:spPr>
          <a:xfrm>
            <a:off x="729450" y="1853850"/>
            <a:ext cx="4573500" cy="271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wide transformation that organizes data into </a:t>
            </a:r>
            <a:r>
              <a:rPr lang="en"/>
              <a:t>subdirectories</a:t>
            </a:r>
            <a:r>
              <a:rPr lang="en"/>
              <a:t> based on unique values in one or more columns. This creates a hive-style directory for cleaner storage.</a:t>
            </a:r>
            <a:endParaRPr/>
          </a:p>
          <a:p>
            <a:pPr indent="0" lvl="0" marL="0" rtl="0" algn="l">
              <a:spcBef>
                <a:spcPts val="1200"/>
              </a:spcBef>
              <a:spcAft>
                <a:spcPts val="0"/>
              </a:spcAft>
              <a:buNone/>
            </a:pPr>
            <a:r>
              <a:rPr lang="en"/>
              <a:t>	df.write.partitionBy(“year”)</a:t>
            </a:r>
            <a:endParaRPr/>
          </a:p>
          <a:p>
            <a:pPr indent="0" lvl="0" marL="0" rtl="0" algn="l">
              <a:spcBef>
                <a:spcPts val="1200"/>
              </a:spcBef>
              <a:spcAft>
                <a:spcPts val="0"/>
              </a:spcAft>
              <a:buNone/>
            </a:pPr>
            <a:r>
              <a:rPr lang="en"/>
              <a:t>When a partitioned dataset is queried on the partitioned column, Spark skips all other directories entirely. This speeds up reads by up to to 50x-100x.</a:t>
            </a:r>
            <a:endParaRPr/>
          </a:p>
          <a:p>
            <a:pPr indent="0" lvl="0" marL="0" rtl="0" algn="l">
              <a:spcBef>
                <a:spcPts val="1200"/>
              </a:spcBef>
              <a:spcAft>
                <a:spcPts val="1200"/>
              </a:spcAft>
              <a:buNone/>
            </a:pPr>
            <a:r>
              <a:rPr lang="en"/>
              <a:t>	SELECT * FROM df WHERE year = 2026</a:t>
            </a:r>
            <a:endParaRPr/>
          </a:p>
        </p:txBody>
      </p:sp>
      <p:sp>
        <p:nvSpPr>
          <p:cNvPr id="113" name="Google Shape;113;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partitionBy()</a:t>
            </a:r>
            <a:endParaRPr/>
          </a:p>
        </p:txBody>
      </p:sp>
      <p:pic>
        <p:nvPicPr>
          <p:cNvPr id="114" name="Google Shape;114;p17"/>
          <p:cNvPicPr preferRelativeResize="0"/>
          <p:nvPr/>
        </p:nvPicPr>
        <p:blipFill>
          <a:blip r:embed="rId3">
            <a:alphaModFix/>
          </a:blip>
          <a:stretch>
            <a:fillRect/>
          </a:stretch>
        </p:blipFill>
        <p:spPr>
          <a:xfrm>
            <a:off x="5302900" y="1252083"/>
            <a:ext cx="3841100" cy="2639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idx="1" type="body"/>
          </p:nvPr>
        </p:nvSpPr>
        <p:spPr>
          <a:xfrm>
            <a:off x="729450" y="1853850"/>
            <a:ext cx="4573500" cy="271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Bucketing is a data storage technique used to improve query performance for large datasets. It divides the data to be stored among a fixed number of buckets, each stored as a separate file.</a:t>
            </a:r>
            <a:endParaRPr/>
          </a:p>
          <a:p>
            <a:pPr indent="0" lvl="0" marL="0" rtl="0" algn="l">
              <a:spcBef>
                <a:spcPts val="1200"/>
              </a:spcBef>
              <a:spcAft>
                <a:spcPts val="0"/>
              </a:spcAft>
              <a:buNone/>
            </a:pPr>
            <a:r>
              <a:rPr lang="en"/>
              <a:t>	df.write.bucketBy(5, “age”).saveAsTable(“table_name”)</a:t>
            </a:r>
            <a:endParaRPr/>
          </a:p>
          <a:p>
            <a:pPr indent="0" lvl="0" marL="0" rtl="0" algn="l">
              <a:spcBef>
                <a:spcPts val="1200"/>
              </a:spcBef>
              <a:spcAft>
                <a:spcPts val="1200"/>
              </a:spcAft>
              <a:buNone/>
            </a:pPr>
            <a:r>
              <a:rPr lang="en"/>
              <a:t>Storing data in buckets allows Spark to narrow down queries by only checking specific buckets, improving query speed. Additionally, uniform bucket size ensures all buckets have roughly the same number of records, preventing data skew.</a:t>
            </a:r>
            <a:endParaRPr/>
          </a:p>
        </p:txBody>
      </p:sp>
      <p:sp>
        <p:nvSpPr>
          <p:cNvPr id="120" name="Google Shape;120;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Bucketing</a:t>
            </a:r>
            <a:endParaRPr/>
          </a:p>
        </p:txBody>
      </p:sp>
      <p:pic>
        <p:nvPicPr>
          <p:cNvPr id="121" name="Google Shape;121;p18"/>
          <p:cNvPicPr preferRelativeResize="0"/>
          <p:nvPr/>
        </p:nvPicPr>
        <p:blipFill>
          <a:blip r:embed="rId3">
            <a:alphaModFix/>
          </a:blip>
          <a:stretch>
            <a:fillRect/>
          </a:stretch>
        </p:blipFill>
        <p:spPr>
          <a:xfrm>
            <a:off x="5302900" y="1252083"/>
            <a:ext cx="3841100" cy="2639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idx="1" type="body"/>
          </p:nvPr>
        </p:nvSpPr>
        <p:spPr>
          <a:xfrm>
            <a:off x="729450" y="1853850"/>
            <a:ext cx="4573500" cy="2715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While these two techniques are similar, they focus on </a:t>
            </a:r>
            <a:r>
              <a:rPr lang="en"/>
              <a:t>different</a:t>
            </a:r>
            <a:r>
              <a:rPr lang="en"/>
              <a:t> areas of data storage and can be used in tandem. Partitioning focuses more on parallel processing distribution and how the data is organized. Bucketing, however, focuses more on query performance and efficient data storage in large datasets.</a:t>
            </a:r>
            <a:endParaRPr/>
          </a:p>
        </p:txBody>
      </p:sp>
      <p:sp>
        <p:nvSpPr>
          <p:cNvPr id="127" name="Google Shape;127;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Bucketing vs. partitionBy()</a:t>
            </a:r>
            <a:endParaRPr/>
          </a:p>
        </p:txBody>
      </p:sp>
      <p:pic>
        <p:nvPicPr>
          <p:cNvPr id="128" name="Google Shape;128;p19"/>
          <p:cNvPicPr preferRelativeResize="0"/>
          <p:nvPr/>
        </p:nvPicPr>
        <p:blipFill>
          <a:blip r:embed="rId3">
            <a:alphaModFix/>
          </a:blip>
          <a:stretch>
            <a:fillRect/>
          </a:stretch>
        </p:blipFill>
        <p:spPr>
          <a:xfrm>
            <a:off x="5302900" y="1252083"/>
            <a:ext cx="3841100" cy="2639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